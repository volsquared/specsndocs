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itemap_231F2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229600" y="4206240"/>
            <a:ext cx="3931920" cy="3931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 DOCUMENTATION SUITE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 Lending Platform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Vision, Capability Model &amp; Capability Deep Dive Suite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00864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Corporate Banking  |  Target Architecture Programme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Definition Phase — Complete  |  Draft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Suite — Capability Definition Phase Complete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artefacts now form the authoritative source for the platform. Each references the ones before it rather than restating them — the Capability Model is the single source of truth for what the platform does; every Deep Dive derives from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587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platform exists, objectives, scope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3685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 — 7 committed domains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4114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Deep Dives (x7)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25880" y="4782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capability behaves as a product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80360" y="5212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623560"/>
            <a:ext cx="502920" cy="502920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559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25880" y="58795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logical components (in progress)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2148840"/>
            <a:ext cx="5742432" cy="3977640"/>
          </a:xfrm>
          <a:prstGeom prst="roundRect">
            <a:avLst>
              <a:gd name="adj" fmla="val 1839"/>
            </a:avLst>
          </a:prstGeom>
          <a:solidFill>
            <a:srgbClr val="231F20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CAPABILITY DEEP DIVES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862072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7614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Data Foundation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3282696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182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3703320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6027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4123944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4023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Operations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4544568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4439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Consumption Enablement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4965192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48646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Business Intelligence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5385816"/>
            <a:ext cx="146304" cy="146304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52852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Evidence &amp; Control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Platform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766560" cy="2834640"/>
          </a:xfrm>
          <a:prstGeom prst="roundRect">
            <a:avLst>
              <a:gd name="adj" fmla="val 2581"/>
            </a:avLst>
          </a:prstGeom>
          <a:solidFill>
            <a:srgbClr val="E6F2EC"/>
          </a:solidFill>
          <a:ln/>
        </p:spPr>
      </p:sp>
      <p:pic>
        <p:nvPicPr>
          <p:cNvPr id="5" name="Image 0" descr="icons/bullseye_0086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workflow-agnostic Commercial &amp; Corporate Lending Platform that transforms how lending decisions are made, supported and governed.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enterprise capability for credit data, financial intelligence, credit decisioning, lending lifecycle management and business insight — integrating seamlessly with any upstream workflow or channel, so Relationship Managers and Credit Officers focus on judgement, not administration.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1417320"/>
            <a:ext cx="4325112" cy="2834640"/>
          </a:xfrm>
          <a:prstGeom prst="roundRect">
            <a:avLst>
              <a:gd name="adj" fmla="val 2581"/>
            </a:avLst>
          </a:prstGeom>
          <a:solidFill>
            <a:srgbClr val="231F20"/>
          </a:solidFill>
          <a:ln/>
        </p:spPr>
      </p:sp>
      <p:pic>
        <p:nvPicPr>
          <p:cNvPr id="10" name="Image 1" descr="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916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838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680960" y="219456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across systems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financial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and journeys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 processes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volumes and regulatory expectations will outpace the current model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448056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D6EBE0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doesn't just automate today's process — </a:t>
            </a:r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changes what Relationship Managers and Credit Officers spend their time on: less gathering and reconciling, more commercial judgement.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18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0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Manual Effort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2624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FTE saving through automation of financial spreading, repetitive analysis and documentation (target to be quantified).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8536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9704" y="1618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1" name="Image 1" descr="icons/balanc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3736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240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Consistent Decisions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9704" y="2624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policy-driven decisioning, with AI-assisted analysis where judgement benefits from added insight.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9872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618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6" name="Image 2" descr="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73736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240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Trusted Data Source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624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view of customers, facilities, limits, collateral, covenants and financials — no duplication or re-keying.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703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3904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2336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4526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&amp; Reduced Risk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" y="4910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traceability, explainability and auditability for every lending decision.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88536" y="3703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9704" y="3904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6" name="Image 4" descr="icons/chartb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023360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4526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Visibility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89704" y="4910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 supporting proactive, not reactive, credit and portfolio management.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9872" y="3703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3904488"/>
            <a:ext cx="502920" cy="50292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31" name="Image 5" descr="icons/plu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023360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52628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Future-Proof the Estate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49103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via well-defined contracts, so innovation ships without breaking consuming workflows or channels.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In &amp;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deliberately bounded. Everything below the line remains the responsibility of upstream workflow and channel platforms, which consume the lending platform through standard contracts.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6F2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data foundation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9306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9306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&amp; spreading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2552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intelligence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5798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798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044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facilities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2291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291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management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553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 management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783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8783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documentation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202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5202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services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5275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55275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business intelligence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852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evidence &amp; audit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45352" y="201168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65392" y="26060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5432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implementation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65392" y="29306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85432" y="29306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orchestration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65392" y="32552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5432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65392" y="35798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85432" y="35798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65392" y="39044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85432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Channel-specific presentation logic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565392" y="44577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remain owned by upstream platforms — e.g. Pega, jBPM or another orchestration engine. The platform stays workflow and channel agnostic.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 V0.4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Capability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231F20"/>
          </a:solidFill>
          <a:ln/>
        </p:spPr>
      </p:sp>
      <p:pic>
        <p:nvPicPr>
          <p:cNvPr id="5" name="Image 0" descr="icons/shield_0086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Evidence &amp; Control  </a:t>
            </a:r>
            <a:pPr indent="0" marL="0">
              <a:buNone/>
            </a:pPr>
            <a:r>
              <a:rPr lang="en-US" sz="1250" dirty="0">
                <a:solidFill>
                  <a:srgbClr val="B9C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governs. Pervasive across every capability below; not a workflow step.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2679192"/>
            <a:ext cx="512064" cy="512064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9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7980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32918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Data Foundation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30352" y="37216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4688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743200" y="251460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93008" y="2679192"/>
            <a:ext cx="512064" cy="512064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5" name="Image 2" descr="icons/chartli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980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16352" y="32918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2816352" y="37216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7548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029200" y="251460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79008" y="2679192"/>
            <a:ext cx="512064" cy="512064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1" name="Image 3" descr="icons/balanc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980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02352" y="32918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Decisioning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102352" y="37216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0408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315200" y="251460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65008" y="2679192"/>
            <a:ext cx="512064" cy="512064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7" name="Image 4" descr="icons/cog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79806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88352" y="32918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Operations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388352" y="37216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3268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9601200" y="251460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51008" y="2679192"/>
            <a:ext cx="512064" cy="512064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33" name="Image 5" descr="icons/chartb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279806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74352" y="32918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9674352" y="37216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7200" y="45262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231F20"/>
          </a:solidFill>
          <a:ln/>
        </p:spPr>
      </p:sp>
      <p:pic>
        <p:nvPicPr>
          <p:cNvPr id="37" name="Image 6" descr="icons/plug_00864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09160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8872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Consumption Enablement  </a:t>
            </a:r>
            <a:pPr indent="0" marL="0">
              <a:buNone/>
            </a:pPr>
            <a:r>
              <a:rPr lang="en-US" sz="1250" dirty="0">
                <a:solidFill>
                  <a:srgbClr val="B9C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connects. Exposes every capability above to any workflow, channel or partner through stable contracts.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(Workflow Platforms) orchestrate the customer journey — the platform provides reusable capabilities, it does not own the journey.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 V0.4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Detail — Data, Intelligence, Decisions,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24912" cy="4572000"/>
          </a:xfrm>
          <a:prstGeom prst="roundRect">
            <a:avLst>
              <a:gd name="adj" fmla="val 2685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465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Data Foundation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176272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trusted, complete and traceable representation of all lending information — the single source every other capability relies on.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761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2999232"/>
            <a:ext cx="23225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&amp; Group Profile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Facilities, Limits, Collateral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Covenants &amp; Exposure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Lineage &amp; Quality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Lending Identifier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463040"/>
            <a:ext cx="2724912" cy="4572000"/>
          </a:xfrm>
          <a:prstGeom prst="roundRect">
            <a:avLst>
              <a:gd name="adj" fmla="val 2685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3" name="Image 1" descr="icons/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4650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6512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Intelligence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2176272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financial information into actionable commercial credit intelligence. Understands — it does not decide.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66160" y="2761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566160" y="2999232"/>
            <a:ext cx="23225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Spreading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&amp; Trend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Forecasting &amp; Scenarios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Benchmarking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Analytical Recommendations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72784" y="1463040"/>
            <a:ext cx="2724912" cy="4572000"/>
          </a:xfrm>
          <a:prstGeom prst="roundRect">
            <a:avLst>
              <a:gd name="adj" fmla="val 2685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55664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0" name="Image 2" descr="icons/ba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74650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04304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Decisioning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73952" y="2176272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explainable, policy-compliant lending decisions. Consumes analysis — it does not produce it.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73952" y="2761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473952" y="2999232"/>
            <a:ext cx="23225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&amp; Eligibility Evaluation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Appetite Assessment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Recommendations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Simulation &amp; Replay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Evidence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180576" y="1463040"/>
            <a:ext cx="2724912" cy="4572000"/>
          </a:xfrm>
          <a:prstGeom prst="roundRect">
            <a:avLst>
              <a:gd name="adj" fmla="val 2685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63456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7" name="Image 3" descr="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746504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912096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Operations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381744" y="2176272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operational management of facilities and relationships after — and alongside — decisioning.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381744" y="276148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9381744" y="2999232"/>
            <a:ext cx="23225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Limits &amp; Facility Management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Collateral &amp; Coverage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Covenant Monitoring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Documentation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Reviews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 V0.4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Detail — Connection, Insight,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39312" cy="4572000"/>
          </a:xfrm>
          <a:prstGeom prst="roundRect">
            <a:avLst>
              <a:gd name="adj" fmla="val 2010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pl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465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Consumption Enablement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176272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every capability to be consumed safely and consistently by any workflow, channel or partner — without owning the journey.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76148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2999232"/>
            <a:ext cx="32369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Consumption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&amp; Data Exposure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Notification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Stability &amp; Versioning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Traceability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79392" y="1463040"/>
            <a:ext cx="3639312" cy="4572000"/>
          </a:xfrm>
          <a:prstGeom prst="roundRect">
            <a:avLst>
              <a:gd name="adj" fmla="val 2010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62272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3" name="Image 1" descr="icons/chart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74650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1645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Business Intelligence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80560" y="2176272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portfolio and management insight drawn from every other capability. Informs decision-makers — it does not decide.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80560" y="276148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480560" y="2999232"/>
            <a:ext cx="32369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 &amp; Risk Analytics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&amp; Relationship Analytics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&amp; Efficiency Analytics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Analytics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01584" y="1463040"/>
            <a:ext cx="3639312" cy="4572000"/>
          </a:xfrm>
          <a:prstGeom prst="roundRect">
            <a:avLst>
              <a:gd name="adj" fmla="val 2010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84464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0" name="Image 2" descr="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4650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33104" y="1645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Evidence &amp; Control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302752" y="2176272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material business action can be explained, evidenced, audited, replayed and traced — pervasively, not as a workflow step.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302752" y="276148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302752" y="2999232"/>
            <a:ext cx="32369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Audit, Evidence &amp; Lineage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&amp; Human Overrides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&amp; Model Governance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 &amp; Retention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DEEP DIVES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Template, Every Capability — Product, Not Just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 Dive follows an identical 16-section structure. Consistency matters more than completeness at this stage — a CIO, architect, product owner and engineering lead can all read the same document and find what they need in the same place.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228600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Purpose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228600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176272" y="228600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Value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228600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10" name="Text 8"/>
          <p:cNvSpPr/>
          <p:nvPr/>
        </p:nvSpPr>
        <p:spPr>
          <a:xfrm>
            <a:off x="3822192" y="228600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Capability Interaction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228600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68112" y="228600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Capability Classification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9260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Capabilities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29260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2176272" y="29260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Consumers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9260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29260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Inputs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29260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29260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Outputs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661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Information Ownership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356616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2176272" y="35661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Collaborates With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356616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26" name="Text 24"/>
          <p:cNvSpPr/>
          <p:nvPr/>
        </p:nvSpPr>
        <p:spPr>
          <a:xfrm>
            <a:off x="3822192" y="35661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Integration Responsibilities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356616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5468112" y="35661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Analytics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42062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Design Principles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2176272" y="42062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GenAI Value Proposition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6F2EC"/>
          </a:solidFill>
          <a:ln/>
        </p:spPr>
      </p:sp>
      <p:sp>
        <p:nvSpPr>
          <p:cNvPr id="34" name="Text 32"/>
          <p:cNvSpPr/>
          <p:nvPr/>
        </p:nvSpPr>
        <p:spPr>
          <a:xfrm>
            <a:off x="3822192" y="42062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Success Measures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496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36" name="Text 34"/>
          <p:cNvSpPr/>
          <p:nvPr/>
        </p:nvSpPr>
        <p:spPr>
          <a:xfrm>
            <a:off x="5468112" y="42062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Future Evolution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1371600"/>
            <a:ext cx="4572000" cy="4160520"/>
          </a:xfrm>
          <a:prstGeom prst="roundRect">
            <a:avLst>
              <a:gd name="adj" fmla="val 1758"/>
            </a:avLst>
          </a:prstGeom>
          <a:solidFill>
            <a:srgbClr val="231F20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Intelligence — Collaborates With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49808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0" y="2770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Data Foundation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98080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98080" y="3547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Decisioning · Lending Operations · Analytics &amp; BI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98080" y="4069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9808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Integration &amp; Consumption Enablement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98080" y="4937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C9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“Analytical Recommendations support judgement; Decision Recommendations are policy-bound. Related, never duplicated.”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Themes Held Across Every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739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 Mechanism, Not the Architecture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first justifies business value, consumer, inputs and outputs — only then is rules, ML, LLM or human judgement chosen. GenAI augments explanation and communication; it never becomes the source of truth or the decision-maker.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4768" y="146304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45936" y="166420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1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739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164592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Is Pervasive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45936" y="2286000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workflow step or an end-of-process gate. It overlays every capability continuously, ensuring anything material can be explained, evidenced, audited, replayed and traced.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61188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81304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6" name="Image 2" descr="icons/pl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9227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79476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Channel Agnostic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" y="4434840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provides reusable business capabilities through stable contracts. Consumers — Pega, jBPM or any other engine — orchestrate the journey. The platform deliberately does not.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4768" y="361188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45936" y="381304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1" name="Image 3" descr="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9227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379476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vs Candidate Discipline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45936" y="4434840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added to committed scope without confirmation against the existing business or explicit stakeholder sign-off. Candidate ideas are tracked transparently, never silently absorbed.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Capability Definition to Platform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6F2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 component is </a:t>
            </a:r>
            <a:pPr indent="0" marL="0">
              <a:buNone/>
            </a:pPr>
            <a:r>
              <a:rPr lang="en-US" sz="130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cohesive logical building block that encapsulates a distinct business responsibility, owns its business state, exposes business capabilities to consumers, and collaborates with other components through well-defined business contracts.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231F2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361188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Derive, Don't Invent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42062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must trace back to one or more committed capabilities. No new business capabilities introduced during architecture.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269748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231F2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2926080"/>
            <a:ext cx="548640" cy="54864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35424" y="361188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the Component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35424" y="42062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several components per capability where rate of change, data lifecycle, or deterministic-vs-AI logic genuinely diverge — not one box per capability.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69748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231F20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926080"/>
            <a:ext cx="548640" cy="54864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57616" y="361188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Against Scenarios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2062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end-to-end business scenarios walked across the draft model, refining boundaries where they don't hold — including the open question of Decisioning's view of live limit utilisation.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Lending Platform  |  Capability Definition Phase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ayers_231F2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412480" y="-7315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 Lending Platform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8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defined. Architecture begins.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22960" y="3794760"/>
            <a:ext cx="502920" cy="54864"/>
          </a:xfrm>
          <a:prstGeom prst="rect">
            <a:avLst/>
          </a:prstGeom>
          <a:solidFill>
            <a:srgbClr val="00864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023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Strategy  ·  Capability Model v0.4  ·  7 Capability Deep Dives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Platform Component Model, validated against real business scenarios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2026-07-28T22:07:58Z</dcterms:created>
  <dcterms:modified xsi:type="dcterms:W3CDTF">2026-07-28T22:07:58Z</dcterms:modified>
</cp:coreProperties>
</file>