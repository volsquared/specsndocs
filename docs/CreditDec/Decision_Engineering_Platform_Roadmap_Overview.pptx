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road_231F20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321040" y="4114800"/>
            <a:ext cx="4023360" cy="4023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Engineering Platform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D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we're building it, what guides us, and the road ahead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 ·  Capability Map  ·  What's Built  ·  Roadmap &amp; Effort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why this platform needs to exist, worked out what it's actually made of, designed the core pieces in depth, and now have a clear path for building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24328" cy="1554480"/>
          </a:xfrm>
          <a:prstGeom prst="roundRect">
            <a:avLst>
              <a:gd name="adj" fmla="val 4118"/>
            </a:avLst>
          </a:prstGeom>
          <a:solidFill>
            <a:srgbClr val="00864F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23774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8803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building this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81528" y="27889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00984" y="2194560"/>
            <a:ext cx="2624328" cy="1554480"/>
          </a:xfrm>
          <a:prstGeom prst="roundRect">
            <a:avLst>
              <a:gd name="adj" fmla="val 4118"/>
            </a:avLst>
          </a:prstGeom>
          <a:solidFill>
            <a:srgbClr val="00864F"/>
          </a:solidFill>
          <a:ln/>
        </p:spPr>
      </p:sp>
      <p:sp>
        <p:nvSpPr>
          <p:cNvPr id="10" name="Text 8"/>
          <p:cNvSpPr/>
          <p:nvPr/>
        </p:nvSpPr>
        <p:spPr>
          <a:xfrm>
            <a:off x="3465576" y="23774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Map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65576" y="28803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is made of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25312" y="27889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44768" y="2194560"/>
            <a:ext cx="2624328" cy="1554480"/>
          </a:xfrm>
          <a:prstGeom prst="roundRect">
            <a:avLst>
              <a:gd name="adj" fmla="val 4118"/>
            </a:avLst>
          </a:prstGeom>
          <a:solidFill>
            <a:srgbClr val="00864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3774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8803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core pieces work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69096" y="27889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88552" y="2194560"/>
            <a:ext cx="2624328" cy="1554480"/>
          </a:xfrm>
          <a:prstGeom prst="roundRect">
            <a:avLst>
              <a:gd name="adj" fmla="val 4118"/>
            </a:avLst>
          </a:prstGeom>
          <a:solidFill>
            <a:srgbClr val="00864F"/>
          </a:solidFill>
          <a:ln/>
        </p:spPr>
      </p:sp>
      <p:sp>
        <p:nvSpPr>
          <p:cNvPr id="18" name="Text 16"/>
          <p:cNvSpPr/>
          <p:nvPr/>
        </p:nvSpPr>
        <p:spPr>
          <a:xfrm>
            <a:off x="9153144" y="23774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53144" y="28803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there, step by step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deck brings the last three together: what guides every design decision, what the platform actually contains, and how we plan to build it.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We're Building This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675120" cy="4389120"/>
          </a:xfrm>
          <a:prstGeom prst="roundRect">
            <a:avLst>
              <a:gd name="adj" fmla="val 1667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build &amp; execution  </a:t>
            </a:r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Vendor platform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38658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testing  </a:t>
            </a:r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Custom in-house harness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71576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back-testing &amp; tuning  </a:t>
            </a:r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Separate SaaS + SQL tooling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04495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&amp; simulation exist  </a:t>
            </a:r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but sit outside the everyday strategy-development loop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8386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strategy lifecycle. Multiple disconnected toolsets.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0599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42569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ecosystem for Business + Strategy Technology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75488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→ Test → Replay / Simulate → Compare → Refine → Govern → Execute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50840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and simulation become normal day-to-day strategy engineering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54132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strategy definition and evidence across the lifecycle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42632" y="1463040"/>
            <a:ext cx="4389120" cy="4389120"/>
          </a:xfrm>
          <a:prstGeom prst="roundRect">
            <a:avLst>
              <a:gd name="adj" fmla="val 1667"/>
            </a:avLst>
          </a:prstGeom>
          <a:solidFill>
            <a:srgbClr val="231F20"/>
          </a:solidFill>
          <a:ln/>
        </p:spPr>
      </p:sp>
      <p:pic>
        <p:nvPicPr>
          <p:cNvPr id="17" name="Image 0" descr="icons/bullseye_0086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737360"/>
            <a:ext cx="411480" cy="411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18388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CALL 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35240" y="23317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Engineering Platform.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635240" y="30632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strategy engineering, testing, experimentation and execution into one coherent platform.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635240" y="429768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simply a faster engine. A better way of working, for the people who build and own these strategies.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GUIDES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Principles Behind Every Decision We Make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6" name="Image 0" descr="icons/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556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76272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is explainable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670048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outcome — every meaningful step along the way.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79392" y="1463040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645920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1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5564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2176272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testable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62272" y="2670048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ever reaches a real customer.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01584" y="1463040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84464" y="1645920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6" name="Image 2" descr="icons/codebran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75564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4464" y="2176272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Strategies are versioned like code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84464" y="2670048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history, review, and traceability — nothing changes quietly.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502152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685032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1" name="Image 3" descr="icons/co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79476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4215384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everywhere it runs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4709160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trial runs and live decisions all behave the same way.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79392" y="3502152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62272" y="3685032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6" name="Image 4" descr="icons/fingerprin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79476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62272" y="4215384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can be traced back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62272" y="4709160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exact strategy, data and version that produced it.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01584" y="3502152"/>
            <a:ext cx="3639312" cy="1874520"/>
          </a:xfrm>
          <a:prstGeom prst="roundRect">
            <a:avLst>
              <a:gd name="adj" fmla="val 3902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84464" y="3685032"/>
            <a:ext cx="438912" cy="438912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31" name="Image 5" descr="icons/brain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379476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84464" y="4215384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helps, it doesn't decide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84464" y="4709160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draft and suggest — the final say always stays governed.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PLATFORM, IN ONE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Is Made Of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68112" cy="1170432"/>
          </a:xfrm>
          <a:prstGeom prst="roundRect">
            <a:avLst>
              <a:gd name="adj" fmla="val 5469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00200"/>
            <a:ext cx="384048" cy="384048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6" name="Image 0" descr="icons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9164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536192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Runtime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" y="1901952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decision, the same way, every time.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6144768" y="1417320"/>
            <a:ext cx="5468112" cy="1170432"/>
          </a:xfrm>
          <a:prstGeom prst="roundRect">
            <a:avLst>
              <a:gd name="adj" fmla="val 5469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600200"/>
            <a:ext cx="384048" cy="384048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1" name="Image 1" descr="icons/codebran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03136" y="1536192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Engineering Workbench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03136" y="1901952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strategies get built, tested and reviewed.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457200" y="2715768"/>
            <a:ext cx="5468112" cy="1170432"/>
          </a:xfrm>
          <a:prstGeom prst="roundRect">
            <a:avLst>
              <a:gd name="adj" fmla="val 5469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" y="2898648"/>
            <a:ext cx="384048" cy="384048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6" name="Image 2" descr="icons/rout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99008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2834640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Replay, Simulation &amp; Experimentation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15568" y="3200400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change and see what would happen, before it goes live.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6144768" y="2715768"/>
            <a:ext cx="5468112" cy="1170432"/>
          </a:xfrm>
          <a:prstGeom prst="roundRect">
            <a:avLst>
              <a:gd name="adj" fmla="val 5469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09360" y="2898648"/>
            <a:ext cx="384048" cy="384048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1" name="Image 3" descr="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990088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03136" y="2834640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Assurance &amp; Strategy Lifecycle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803136" y="3200400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change safe, evidenced and approved.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457200" y="4014216"/>
            <a:ext cx="5468112" cy="1170432"/>
          </a:xfrm>
          <a:prstGeom prst="roundRect">
            <a:avLst>
              <a:gd name="adj" fmla="val 5469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1792" y="4197096"/>
            <a:ext cx="384048" cy="384048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6" name="Image 4" descr="icons/clipboar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28853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15568" y="4133088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Transformation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15568" y="4498848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existing strategies onto the new platform.</a:t>
            </a:r>
            <a:endParaRPr lang="en-US" sz="970" dirty="0"/>
          </a:p>
        </p:txBody>
      </p:sp>
      <p:sp>
        <p:nvSpPr>
          <p:cNvPr id="29" name="Shape 22"/>
          <p:cNvSpPr/>
          <p:nvPr/>
        </p:nvSpPr>
        <p:spPr>
          <a:xfrm>
            <a:off x="6144768" y="4014216"/>
            <a:ext cx="5468112" cy="1170432"/>
          </a:xfrm>
          <a:prstGeom prst="roundRect">
            <a:avLst>
              <a:gd name="adj" fmla="val 5469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9360" y="4197096"/>
            <a:ext cx="384048" cy="384048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31" name="Image 5" descr="icons/databas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88536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03136" y="4133088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Data &amp; Integration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803136" y="4498848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 data every decision relies on.</a:t>
            </a:r>
            <a:endParaRPr lang="en-US" sz="970" dirty="0"/>
          </a:p>
        </p:txBody>
      </p:sp>
      <p:sp>
        <p:nvSpPr>
          <p:cNvPr id="34" name="Shape 26"/>
          <p:cNvSpPr/>
          <p:nvPr/>
        </p:nvSpPr>
        <p:spPr>
          <a:xfrm>
            <a:off x="457200" y="5312664"/>
            <a:ext cx="5468112" cy="1170432"/>
          </a:xfrm>
          <a:prstGeom prst="roundRect">
            <a:avLst>
              <a:gd name="adj" fmla="val 5469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21792" y="5495544"/>
            <a:ext cx="384048" cy="384048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36" name="Image 6" descr="icons/chartlin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586984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15568" y="5431536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&amp; Outcomes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115568" y="5797296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how decisions actually played out.</a:t>
            </a:r>
            <a:endParaRPr lang="en-US" sz="970" dirty="0"/>
          </a:p>
        </p:txBody>
      </p:sp>
      <p:sp>
        <p:nvSpPr>
          <p:cNvPr id="39" name="Shape 30"/>
          <p:cNvSpPr/>
          <p:nvPr/>
        </p:nvSpPr>
        <p:spPr>
          <a:xfrm>
            <a:off x="6144768" y="5312664"/>
            <a:ext cx="5468112" cy="1170432"/>
          </a:xfrm>
          <a:prstGeom prst="roundRect">
            <a:avLst>
              <a:gd name="adj" fmla="val 5469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309360" y="5495544"/>
            <a:ext cx="384048" cy="384048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41" name="Image 7" descr="icons/sitemap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586984"/>
            <a:ext cx="201168" cy="20116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03136" y="5431536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 &amp; Administration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803136" y="5797296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whole thing running safely, day to day.</a:t>
            </a:r>
            <a:endParaRPr lang="en-US" sz="970" dirty="0"/>
          </a:p>
        </p:txBody>
      </p:sp>
      <p:sp>
        <p:nvSpPr>
          <p:cNvPr id="44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We've Already Designed in Depth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eight areas now have a real, worked-through design — not just a name on a map.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E6F2EC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029968"/>
            <a:ext cx="457200" cy="45720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7" name="Image 0" descr="icons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3969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01168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Runtime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2606040"/>
            <a:ext cx="5065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decision actually runs — consistent, explainable, and provable, wherever it executes.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53712" y="20482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44768" y="182880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E6F2EC"/>
          </a:solidFill>
          <a:ln/>
        </p:spPr>
      </p:sp>
      <p:sp>
        <p:nvSpPr>
          <p:cNvPr id="12" name="Shape 9"/>
          <p:cNvSpPr/>
          <p:nvPr/>
        </p:nvSpPr>
        <p:spPr>
          <a:xfrm>
            <a:off x="6345936" y="2029968"/>
            <a:ext cx="457200" cy="45720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3" name="Image 1" descr="icons/codebran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1396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67728" y="201168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Engineering Workbench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45936" y="2606040"/>
            <a:ext cx="5065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strategies get authored, tested and versioned, with the same discipline as software.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241280" y="20482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57200" y="3959352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E6F2EC"/>
          </a:solidFill>
          <a:ln/>
        </p:spPr>
      </p:sp>
      <p:sp>
        <p:nvSpPr>
          <p:cNvPr id="18" name="Shape 14"/>
          <p:cNvSpPr/>
          <p:nvPr/>
        </p:nvSpPr>
        <p:spPr>
          <a:xfrm>
            <a:off x="658368" y="4160520"/>
            <a:ext cx="457200" cy="45720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19" name="Image 2" descr="icons/rout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27024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4142232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Replay, Simulation &amp; Experimentation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8368" y="4736592"/>
            <a:ext cx="5065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try out changes and see their impact before anything goes live.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53712" y="41788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144768" y="3959352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E6F2EC"/>
          </a:solidFill>
          <a:ln/>
        </p:spPr>
      </p:sp>
      <p:sp>
        <p:nvSpPr>
          <p:cNvPr id="24" name="Shape 19"/>
          <p:cNvSpPr/>
          <p:nvPr/>
        </p:nvSpPr>
        <p:spPr>
          <a:xfrm>
            <a:off x="6345936" y="4160520"/>
            <a:ext cx="457200" cy="457200"/>
          </a:xfrm>
          <a:prstGeom prst="ellipse">
            <a:avLst/>
          </a:prstGeom>
          <a:solidFill>
            <a:srgbClr val="00864F"/>
          </a:solidFill>
          <a:ln/>
        </p:spPr>
      </p:sp>
      <p:pic>
        <p:nvPicPr>
          <p:cNvPr id="25" name="Image 3" descr="icons/clipbo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427024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67728" y="4142232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Transformation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345936" y="4736592"/>
            <a:ext cx="5065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existing strategy moves onto the new platform, with its behaviour proven, not guessed at.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0241280" y="41788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IN DEPTH ·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Runtime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every decision the same way, wherever it executes — and can prove exactly how it got there.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270248" y="1828800"/>
            <a:ext cx="3657600" cy="658368"/>
          </a:xfrm>
          <a:prstGeom prst="roundRect">
            <a:avLst>
              <a:gd name="adj" fmla="val 11111"/>
            </a:avLst>
          </a:prstGeom>
          <a:solidFill>
            <a:srgbClr val="231F20"/>
          </a:solidFill>
          <a:ln/>
        </p:spPr>
      </p:sp>
      <p:sp>
        <p:nvSpPr>
          <p:cNvPr id="6" name="Text 4"/>
          <p:cNvSpPr/>
          <p:nvPr/>
        </p:nvSpPr>
        <p:spPr>
          <a:xfrm>
            <a:off x="4270248" y="1828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ENGINE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15768" y="2487168"/>
            <a:ext cx="7498080" cy="0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2487168"/>
            <a:ext cx="0" cy="576072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306324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3172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Workbench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64808" y="2487168"/>
            <a:ext cx="0" cy="576072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306324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3172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Runs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56048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&amp; simulation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13848" y="2487168"/>
            <a:ext cx="0" cy="576072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67928" y="306324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5088" y="3172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Decisions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05088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every time — testing, trial runs and live decisions all behave exactly the same way.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76402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709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strategy, same inputs, same result — every time, in every context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44768" y="476402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709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explainable, not just the outcome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31266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257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released as binding until its evidence is safely recorded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44768" y="531266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5257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recover cleanly from failures, timeouts and retries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IN DEPTH ·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Engineering Workbench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strategy gets built, tested and reviewed — like software, but usable by non-developers too.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69848" y="187452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Builder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15768" y="2514600"/>
            <a:ext cx="0" cy="320040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18888" y="187452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DSL Editor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64808" y="2514600"/>
            <a:ext cx="0" cy="320040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67928" y="187452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7928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Drafting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213848" y="2514600"/>
            <a:ext cx="0" cy="320040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2834640"/>
            <a:ext cx="7498080" cy="0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4476" y="2834640"/>
            <a:ext cx="0" cy="320040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0248" y="3154680"/>
            <a:ext cx="3657600" cy="658368"/>
          </a:xfrm>
          <a:prstGeom prst="roundRect">
            <a:avLst>
              <a:gd name="adj" fmla="val 11111"/>
            </a:avLst>
          </a:prstGeom>
          <a:solidFill>
            <a:srgbClr val="231F20"/>
          </a:solidFill>
          <a:ln/>
        </p:spPr>
      </p:sp>
      <p:sp>
        <p:nvSpPr>
          <p:cNvPr id="17" name="Text 15"/>
          <p:cNvSpPr/>
          <p:nvPr/>
        </p:nvSpPr>
        <p:spPr>
          <a:xfrm>
            <a:off x="4270248" y="31546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STRATEGY DEFINITION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visually, in text, or with AI assistance — all three describe the exact same strategy underneath. Nothing is real until it's tested, versioned and reviewed.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80974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754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tested, versioned and reviewed before it goes anywhere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44768" y="480974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754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are versioned like code — full history, nothing changes quietly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535838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5303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through the same engine that runs live decisions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44768" y="535838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5303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packaged the same reproducible way, every time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IN DEPTH ·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Replay, Simulation &amp; Experimentation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a change and see exactly what it would have done — before it goes anywhere near a customer.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993392" cy="777240"/>
          </a:xfrm>
          <a:prstGeom prst="roundRect">
            <a:avLst>
              <a:gd name="adj" fmla="val 8235"/>
            </a:avLst>
          </a:prstGeom>
          <a:solidFill>
            <a:srgbClr val="E6F2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population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2450592" y="2148840"/>
            <a:ext cx="118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9464" y="1965960"/>
            <a:ext cx="1993392" cy="777240"/>
          </a:xfrm>
          <a:prstGeom prst="roundRect">
            <a:avLst>
              <a:gd name="adj" fmla="val 8235"/>
            </a:avLst>
          </a:prstGeom>
          <a:solidFill>
            <a:srgbClr val="E6F2EC"/>
          </a:solidFill>
          <a:ln/>
        </p:spPr>
      </p:sp>
      <p:sp>
        <p:nvSpPr>
          <p:cNvPr id="9" name="Text 7"/>
          <p:cNvSpPr/>
          <p:nvPr/>
        </p:nvSpPr>
        <p:spPr>
          <a:xfrm>
            <a:off x="2660904" y="19659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strategy version(s)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562856" y="2148840"/>
            <a:ext cx="118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1965960"/>
            <a:ext cx="1993392" cy="777240"/>
          </a:xfrm>
          <a:prstGeom prst="roundRect">
            <a:avLst>
              <a:gd name="adj" fmla="val 8235"/>
            </a:avLst>
          </a:prstGeom>
          <a:solidFill>
            <a:srgbClr val="E6F2EC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9659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a condition (optional)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675120" y="2148840"/>
            <a:ext cx="118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93992" y="1965960"/>
            <a:ext cx="1993392" cy="777240"/>
          </a:xfrm>
          <a:prstGeom prst="roundRect">
            <a:avLst>
              <a:gd name="adj" fmla="val 8235"/>
            </a:avLst>
          </a:prstGeom>
          <a:solidFill>
            <a:srgbClr val="E6F2EC"/>
          </a:solidFill>
          <a:ln/>
        </p:spPr>
      </p:sp>
      <p:sp>
        <p:nvSpPr>
          <p:cNvPr id="15" name="Text 13"/>
          <p:cNvSpPr/>
          <p:nvPr/>
        </p:nvSpPr>
        <p:spPr>
          <a:xfrm>
            <a:off x="6885432" y="19659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787384" y="2148840"/>
            <a:ext cx="118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06256" y="1965960"/>
            <a:ext cx="1993392" cy="777240"/>
          </a:xfrm>
          <a:prstGeom prst="roundRect">
            <a:avLst>
              <a:gd name="adj" fmla="val 8235"/>
            </a:avLst>
          </a:prstGeom>
          <a:solidFill>
            <a:srgbClr val="00864F"/>
          </a:solidFill>
          <a:ln/>
        </p:spPr>
      </p:sp>
      <p:sp>
        <p:nvSpPr>
          <p:cNvPr id="18" name="Text 16"/>
          <p:cNvSpPr/>
          <p:nvPr/>
        </p:nvSpPr>
        <p:spPr>
          <a:xfrm>
            <a:off x="8997696" y="19659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difference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231F2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customer, run twice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474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strategy → DECLINE          New strategy → APPROVE          What changed, and why, is shown side by side.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39826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343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new strategy against the old one, on real historical data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44768" y="439826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343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which customers would be affected, and why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94690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4892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 and know what actually caused the difference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44768" y="494690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892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whenever an engineer needs it — not a specialist activity elsewhere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IN DEPTH ·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Transformation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Brings an existing strategy onto the new platform — with its behaviour proven, not assumed.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E6F2EC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96596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214884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965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E6F2EC"/>
          </a:solidFill>
          <a:ln/>
        </p:spPr>
      </p:sp>
      <p:sp>
        <p:nvSpPr>
          <p:cNvPr id="9" name="Text 7"/>
          <p:cNvSpPr/>
          <p:nvPr/>
        </p:nvSpPr>
        <p:spPr>
          <a:xfrm>
            <a:off x="2313432" y="196596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214884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965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E6F2EC"/>
          </a:solidFill>
          <a:ln/>
        </p:spPr>
      </p:sp>
      <p:sp>
        <p:nvSpPr>
          <p:cNvPr id="12" name="Text 10"/>
          <p:cNvSpPr/>
          <p:nvPr/>
        </p:nvSpPr>
        <p:spPr>
          <a:xfrm>
            <a:off x="4096512" y="196596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214884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1965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E6F2E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9592" y="196596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214884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1965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E6F2EC"/>
          </a:solidFill>
          <a:ln/>
        </p:spPr>
      </p:sp>
      <p:sp>
        <p:nvSpPr>
          <p:cNvPr id="18" name="Text 16"/>
          <p:cNvSpPr/>
          <p:nvPr/>
        </p:nvSpPr>
        <p:spPr>
          <a:xfrm>
            <a:off x="7662672" y="196596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81160" y="214884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72600" y="196596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00864F"/>
          </a:solidFill>
          <a:ln/>
        </p:spPr>
      </p:sp>
      <p:sp>
        <p:nvSpPr>
          <p:cNvPr id="21" name="Text 19"/>
          <p:cNvSpPr/>
          <p:nvPr/>
        </p:nvSpPr>
        <p:spPr>
          <a:xfrm>
            <a:off x="9445752" y="196596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Assessment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6F2E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we don't break: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474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reproduce what a strategy does today. If something looks odd, we surface it and ask — we never quietly “fix” it while moving it.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39826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343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against real historical decisions before anyone trusts it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44768" y="439826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343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difference from the original is surfaced and explained, not hidden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94690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892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goes live during transformation — comparison only, until it's approved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44768" y="4946904"/>
            <a:ext cx="128016" cy="128016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892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an ordinary strategy on the new platform — nothing second-class about it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Still Ahead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four areas are on the map and understood at a high level, but not yet designed in depth. The roadmap tells us when each one first needs to be.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68112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167128"/>
            <a:ext cx="420624" cy="420624"/>
          </a:xfrm>
          <a:prstGeom prst="ellipse">
            <a:avLst/>
          </a:prstGeom>
          <a:solidFill>
            <a:srgbClr val="8A8A8A"/>
          </a:solidFill>
          <a:ln/>
        </p:spPr>
      </p:sp>
      <p:pic>
        <p:nvPicPr>
          <p:cNvPr id="7" name="Image 0" descr="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2677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584" y="214884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Governance, Assurance &amp; Strategy Lifecycle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2743200"/>
            <a:ext cx="5065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needed for our first real production decision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44768" y="1965960"/>
            <a:ext cx="5468112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6345936" y="2167128"/>
            <a:ext cx="420624" cy="420624"/>
          </a:xfrm>
          <a:prstGeom prst="ellipse">
            <a:avLst/>
          </a:prstGeom>
          <a:solidFill>
            <a:srgbClr val="8A8A8A"/>
          </a:solidFill>
          <a:ln/>
        </p:spPr>
      </p:sp>
      <p:pic>
        <p:nvPicPr>
          <p:cNvPr id="12" name="Image 1" descr="icons/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677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31152" y="214884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Data &amp; Integration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45936" y="2743200"/>
            <a:ext cx="5065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needed for our first real production decision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3520440"/>
            <a:ext cx="5468112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16" name="Shape 12"/>
          <p:cNvSpPr/>
          <p:nvPr/>
        </p:nvSpPr>
        <p:spPr>
          <a:xfrm>
            <a:off x="658368" y="3721608"/>
            <a:ext cx="420624" cy="420624"/>
          </a:xfrm>
          <a:prstGeom prst="ellipse">
            <a:avLst/>
          </a:prstGeom>
          <a:solidFill>
            <a:srgbClr val="8A8A8A"/>
          </a:solidFill>
          <a:ln/>
        </p:spPr>
      </p:sp>
      <p:pic>
        <p:nvPicPr>
          <p:cNvPr id="17" name="Image 2" descr="icons/site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2219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3584" y="370332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Operations &amp; Administration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8368" y="4297680"/>
            <a:ext cx="5065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version needed early, fully needed for production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144768" y="3520440"/>
            <a:ext cx="5468112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21" name="Shape 16"/>
          <p:cNvSpPr/>
          <p:nvPr/>
        </p:nvSpPr>
        <p:spPr>
          <a:xfrm>
            <a:off x="6345936" y="3721608"/>
            <a:ext cx="420624" cy="420624"/>
          </a:xfrm>
          <a:prstGeom prst="ellipse">
            <a:avLst/>
          </a:prstGeom>
          <a:solidFill>
            <a:srgbClr val="8A8A8A"/>
          </a:solidFill>
          <a:ln/>
        </p:spPr>
      </p:sp>
      <p:pic>
        <p:nvPicPr>
          <p:cNvPr id="22" name="Image 3" descr="icons/chartlin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2219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31152" y="370332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Intelligence &amp; Outcomes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345936" y="4297680"/>
            <a:ext cx="5065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once we're closing the loop on real outcomes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Roadmap — Six Steps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building every capability at once, and we're not switching off the current system on a fixed date. Each step earns the platform a little more trust and a little more scope.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Platform Spine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240280" y="2880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68296" y="21031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05456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Migrate a Real Strategy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51376" y="2880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79392" y="21031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00864F"/>
          </a:solidFill>
          <a:ln/>
        </p:spPr>
      </p:sp>
      <p:sp>
        <p:nvSpPr>
          <p:cNvPr id="14" name="Text 12"/>
          <p:cNvSpPr/>
          <p:nvPr/>
        </p:nvSpPr>
        <p:spPr>
          <a:xfrm>
            <a:off x="4416552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16552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First Real Decision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62472" y="2880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0488" y="21031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27648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Self-Service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973568" y="2880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01584" y="21031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8744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38744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It Up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4664" y="2880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12680" y="21031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00864F"/>
          </a:solidFill>
          <a:ln/>
        </p:spPr>
      </p:sp>
      <p:sp>
        <p:nvSpPr>
          <p:cNvPr id="26" name="Text 24"/>
          <p:cNvSpPr/>
          <p:nvPr/>
        </p:nvSpPr>
        <p:spPr>
          <a:xfrm>
            <a:off x="1014984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149840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and Improve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(R2)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platform makes its first real, binding credit decision.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(R5)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 start learning from real outcomes and feeding that back into strategy design.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Spine, Then Proving It on Something Real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— BUILD THE PLATFORM SPINE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we build the reusable engineering foundation — the core engine, the strategy model, the build pipeline, testing, evidence and a first replay slice — proven end to end on one bounded strategy.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platform's foundational engineering happens here — this is where technical risk gets retired.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4930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IN PLAY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Runtime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(new, core execution)  ·  </a:t>
            </a:r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(new, authoring + basic versioning)  ·  </a:t>
            </a:r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(new, simple check)  ·  </a:t>
            </a:r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(just enough to run it)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7240" y="4498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system: untouched, still fully in charge.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4828032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E6F2E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846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engineering months (range 32–48)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51206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most-detailed estimate — full breakdown on the next slide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45352" y="141732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MIGRATE A REAL STRATEGY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65392" y="19202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platform spine already built, we take one real strategy from the current system and prove — with real historical data — that it behaves the same way. We don't quietly fix or improve it along the way.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5392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not months — because the spine already exists to build 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65392" y="34290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IN PLAY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65392" y="36850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Transformation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— import, build, compare)  ·  </a:t>
            </a:r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(deepened — real historical data)  ·  </a:t>
            </a:r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Runtime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(exercised on migrated logic for the first time)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565392" y="4480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system: still fully in charge. New platform runs alongside it, for comparison only.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65392" y="489204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6F2EC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4892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 engineering months (15–20 working days)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R0 EFFORT ACTUALLY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Platform Spine — In Detail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carries most of the roadmap's engineering detail on purpose — this is the foundation everything else is built on, so it's where we want the most confidence before committing.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0789920" cy="457200"/>
          </a:xfrm>
          <a:prstGeom prst="rect">
            <a:avLst/>
          </a:prstGeom>
          <a:solidFill>
            <a:srgbClr val="E6F2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Runtime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0" y="18745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execution engine, artifact loading, graph/control-flow execution, execution contexts, dependency invocation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92124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PM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0789920" cy="457200"/>
          </a:xfrm>
          <a:prstGeom prst="rect">
            <a:avLst/>
          </a:prstGeom>
          <a:solidFill>
            <a:srgbClr val="F7F9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DSL + Strategy 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331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strategy representation, parser/validation, basic composition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92124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PM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0789920" cy="457200"/>
          </a:xfrm>
          <a:prstGeom prst="rect">
            <a:avLst/>
          </a:prstGeom>
          <a:solidFill>
            <a:srgbClr val="E6F2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Immutable Artifact Path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788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Validate/build/package, immutable version/hash, Runtime resolution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92124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0789920" cy="457200"/>
          </a:xfrm>
          <a:prstGeom prst="rect">
            <a:avLst/>
          </a:prstGeom>
          <a:solidFill>
            <a:srgbClr val="F7F9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— minimum surface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authoring/editing to engineer a strategy, validate, build, run/test — not the full future visual Workbench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2124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PM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10789920" cy="457200"/>
          </a:xfrm>
          <a:prstGeom prst="rect">
            <a:avLst/>
          </a:prstGeom>
          <a:solidFill>
            <a:srgbClr val="E6F2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Test Engineering — minimum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3703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Fixtures/mocks, basic assertions, Runtime-faithful testing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2124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10789920" cy="457200"/>
          </a:xfrm>
          <a:prstGeom prst="rect">
            <a:avLst/>
          </a:prstGeom>
          <a:solidFill>
            <a:srgbClr val="F7F9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Evidence / Explainability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41605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evidence, path/node attribution, result/reason attribution, minimum evidence persistence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92124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PM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10789920" cy="457200"/>
          </a:xfrm>
          <a:prstGeom prst="rect">
            <a:avLst/>
          </a:prstGeom>
          <a:solidFill>
            <a:srgbClr val="E6F2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— minimum slice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17520" y="4617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select population, select immutable artifact, execute through canonical Runtime, compare results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2124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PM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5074920"/>
            <a:ext cx="10789920" cy="457200"/>
          </a:xfrm>
          <a:prstGeom prst="rect">
            <a:avLst/>
          </a:prstGeom>
          <a:solidFill>
            <a:srgbClr val="F7F9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5074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Infrastructure Foundations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17520" y="5074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environments, deployment path, CI/CD foundations, observability/logging, minimum security/service integration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921240" y="5074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PM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532120"/>
            <a:ext cx="10789920" cy="457200"/>
          </a:xfrm>
          <a:prstGeom prst="rect">
            <a:avLst/>
          </a:prstGeom>
          <a:solidFill>
            <a:srgbClr val="E6F2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5532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Data Foundations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17520" y="5532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contracts/adapters needed to run a realistic 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921240" y="5532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illustrative slices, not additive — there's real overlap and parallel delivery across them. Don't sum them mechanically. Core planning estimate: ~40 PM (range 32–48), refined further after Functional Specification and Technical Architecture / ADR work for R0.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flag_231F20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503920" y="42062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R2 · THE BIG MOMENT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75895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Real Decision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first time, the new platform makes a real, binding credit decision — for one product, one customer segment. Often the same strategy just proven in Step 2, now made binding.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platform already exists by this point. R2 mainly adds what's needed to make an already-proven strategy safe to bind — real data connections, real failure handling, real evidence, all tested safely before anything is switched 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in play: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6758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Runtime  </a:t>
            </a:r>
            <a:pPr indent="0" marL="0">
              <a:buNone/>
            </a:pPr>
            <a:r>
              <a:rPr lang="en-US" sz="11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deepened to production-grade — binding, evidence-gated, failure-handled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01421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Assurance  </a:t>
            </a:r>
            <a:pPr indent="0" marL="0">
              <a:buNone/>
            </a:pPr>
            <a:r>
              <a:rPr lang="en-US" sz="11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minimum slice — enough to approve and promote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3525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Data &amp; Integration  </a:t>
            </a:r>
            <a:pPr indent="0" marL="0">
              <a:buNone/>
            </a:pPr>
            <a:r>
              <a:rPr lang="en-US" sz="11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minimum slice — for this one bounded scope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690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  </a:t>
            </a:r>
            <a:pPr indent="0" marL="0">
              <a:buNone/>
            </a:pPr>
            <a:r>
              <a:rPr lang="en-US" sz="11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minimum slice — identity, access, basic monitoring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5166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system: still handles everything else. This one bounded scope moves to the new platform.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0" y="128016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00864F"/>
          </a:solidFill>
          <a:ln/>
        </p:spPr>
      </p:sp>
      <p:sp>
        <p:nvSpPr>
          <p:cNvPr id="14" name="Text 11"/>
          <p:cNvSpPr/>
          <p:nvPr/>
        </p:nvSpPr>
        <p:spPr>
          <a:xfrm>
            <a:off x="850392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months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50392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5–7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&amp;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Self-Service, Then Scaling 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— MAKE IT SELF-SERVICE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engineer can take an idea, build it, test it, see its likely impact, and get it approved and live — without an engineer manually running each step for them.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shifts from "can the platform decide?" to "can our people safely change it?"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4930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IN PLAY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(deepened significantly — full authoring, testing, build)  ·  </a:t>
            </a:r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(deepened — routine, everyday use)  ·  </a:t>
            </a:r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(deepened — handles routine change, not just one bootstrap)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system: no change in scope — this step is about who can safely operate the platform.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507492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074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refined after Steps 1–3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5352" y="141732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— SCALE IT UP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65392" y="1920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strategies, more products, more data connections, more people using it, more volume. We move from migrating one strategy successfully to doing it repeatedly and reliably.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926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shifts from "can we migrate a strategy?" to "can we do this again and again, efficiently?"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65392" y="35387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IN PLAY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65392" y="37947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Transformation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— bulk onboarding, many strategies at once)  ·  </a:t>
            </a:r>
            <a:pPr indent="0" marL="0">
              <a:lnSpc>
                <a:spcPct val="125000"/>
              </a:lnSpc>
              <a:buNone/>
            </a:pPr>
            <a:r>
              <a:rPr lang="en-US" sz="9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Integration, Governance, Platform Operations </a:t>
            </a:r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deepened for real scale)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565392" y="4617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system: footprint starts shrinking, one proven strategy at a 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65392" y="507492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5074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refined after initial migrations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eedling_231F20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503920" y="42062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R5 · THE SECOND BIG MOMENT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75895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3619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start comparing what we decided against what actually happened — and feeding that back into how strategies are designed.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2578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→  real outcome  →  did it work?  →  investigate  →  change the strategy  →  test and approve it  →  go live  →  watch again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in play: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35844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&amp; Outcomes  </a:t>
            </a:r>
            <a:pPr indent="0" marL="0">
              <a:buNone/>
            </a:pPr>
            <a:r>
              <a:rPr lang="en-US" sz="11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outcome capture, effectiveness, drift monitoring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93192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 </a:t>
            </a:r>
            <a:pPr indent="0" marL="0">
              <a:buNone/>
            </a:pPr>
            <a:r>
              <a:rPr lang="en-US" sz="11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— supplies real outcomes as an input when asked, doesn't own them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27939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&amp; Governance  </a:t>
            </a:r>
            <a:pPr indent="0" marL="0">
              <a:buNone/>
            </a:pPr>
            <a:r>
              <a:rPr lang="en-US" sz="11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— an outcome-driven change follows the same self-service lifecycle from Step 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76402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platform stops being just a replacement for the old system, and becomes a way of continuously improving how we lend.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535838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system: by this point, coexistence is really about the parts of the estate that haven't migrated yet.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503920" y="128016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3A3536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 refined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9536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Decision Intelligence &amp; Outcomes is designed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WATERFALL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Platform Grows Over 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built once and left alone. Each area grows a little more with every step, only as far as that step actually needs.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292608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1417320" cy="292608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828800"/>
            <a:ext cx="1417320" cy="292608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1417320" cy="292608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1417320" cy="292608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69680" y="1828800"/>
            <a:ext cx="1417320" cy="292608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287000" y="1828800"/>
            <a:ext cx="1444752" cy="292608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18" name="Text 16"/>
          <p:cNvSpPr/>
          <p:nvPr/>
        </p:nvSpPr>
        <p:spPr>
          <a:xfrm>
            <a:off x="10287000" y="18288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274320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21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Runtime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121408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1214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4617720" y="2121408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1214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migrated logic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035040" y="2121408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1214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7452360" y="2121408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1214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use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8869680" y="2121408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21214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scale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10287000" y="2121408"/>
            <a:ext cx="1444752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87000" y="212140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457200" y="2414016"/>
            <a:ext cx="274320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414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2414016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authoring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4617720" y="2414016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6035040" y="2414016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7452360" y="2414016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self-service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8869680" y="2414016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use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10287000" y="2414016"/>
            <a:ext cx="1444752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87000" y="241401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learnings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457200" y="2706624"/>
            <a:ext cx="274320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2706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&amp; Experimentation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0" y="2706624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27066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check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617720" y="2706624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27066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comparison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6035040" y="2706624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27066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7452360" y="2706624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52360" y="27066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use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8869680" y="2706624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69680" y="27066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use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10287000" y="2706624"/>
            <a:ext cx="1444752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87000" y="270662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real outcomes in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457200" y="2999232"/>
            <a:ext cx="274320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2999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Assurance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200400" y="2999232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0" y="2999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30" dirty="0"/>
          </a:p>
        </p:txBody>
      </p:sp>
      <p:sp>
        <p:nvSpPr>
          <p:cNvPr id="65" name="Shape 63"/>
          <p:cNvSpPr/>
          <p:nvPr/>
        </p:nvSpPr>
        <p:spPr>
          <a:xfrm>
            <a:off x="4617720" y="2999232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0" y="2999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30" dirty="0"/>
          </a:p>
        </p:txBody>
      </p:sp>
      <p:sp>
        <p:nvSpPr>
          <p:cNvPr id="67" name="Shape 65"/>
          <p:cNvSpPr/>
          <p:nvPr/>
        </p:nvSpPr>
        <p:spPr>
          <a:xfrm>
            <a:off x="6035040" y="2999232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35040" y="2999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version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7452360" y="2999232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52360" y="2999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routine change</a:t>
            </a:r>
            <a:endParaRPr lang="en-US" sz="830" dirty="0"/>
          </a:p>
        </p:txBody>
      </p:sp>
      <p:sp>
        <p:nvSpPr>
          <p:cNvPr id="71" name="Shape 69"/>
          <p:cNvSpPr/>
          <p:nvPr/>
        </p:nvSpPr>
        <p:spPr>
          <a:xfrm>
            <a:off x="8869680" y="2999232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69680" y="2999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more, at once</a:t>
            </a:r>
            <a:endParaRPr lang="en-US" sz="830" dirty="0"/>
          </a:p>
        </p:txBody>
      </p:sp>
      <p:sp>
        <p:nvSpPr>
          <p:cNvPr id="73" name="Shape 71"/>
          <p:cNvSpPr/>
          <p:nvPr/>
        </p:nvSpPr>
        <p:spPr>
          <a:xfrm>
            <a:off x="10287000" y="2999232"/>
            <a:ext cx="1444752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287000" y="29992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830" dirty="0"/>
          </a:p>
        </p:txBody>
      </p:sp>
      <p:sp>
        <p:nvSpPr>
          <p:cNvPr id="75" name="Shape 73"/>
          <p:cNvSpPr/>
          <p:nvPr/>
        </p:nvSpPr>
        <p:spPr>
          <a:xfrm>
            <a:off x="457200" y="3291840"/>
            <a:ext cx="274320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Transformation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200400" y="3291840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0" y="3291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30" dirty="0"/>
          </a:p>
        </p:txBody>
      </p:sp>
      <p:sp>
        <p:nvSpPr>
          <p:cNvPr id="79" name="Shape 77"/>
          <p:cNvSpPr/>
          <p:nvPr/>
        </p:nvSpPr>
        <p:spPr>
          <a:xfrm>
            <a:off x="4617720" y="3291840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17720" y="3291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use</a:t>
            </a:r>
            <a:endParaRPr lang="en-US" sz="830" dirty="0"/>
          </a:p>
        </p:txBody>
      </p:sp>
      <p:sp>
        <p:nvSpPr>
          <p:cNvPr id="81" name="Shape 79"/>
          <p:cNvSpPr/>
          <p:nvPr/>
        </p:nvSpPr>
        <p:spPr>
          <a:xfrm>
            <a:off x="6035040" y="3291840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35040" y="3291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(if migrated)</a:t>
            </a:r>
            <a:endParaRPr lang="en-US" sz="830" dirty="0"/>
          </a:p>
        </p:txBody>
      </p:sp>
      <p:sp>
        <p:nvSpPr>
          <p:cNvPr id="83" name="Shape 81"/>
          <p:cNvSpPr/>
          <p:nvPr/>
        </p:nvSpPr>
        <p:spPr>
          <a:xfrm>
            <a:off x="7452360" y="3291840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52360" y="3291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830" dirty="0"/>
          </a:p>
        </p:txBody>
      </p:sp>
      <p:sp>
        <p:nvSpPr>
          <p:cNvPr id="85" name="Shape 83"/>
          <p:cNvSpPr/>
          <p:nvPr/>
        </p:nvSpPr>
        <p:spPr>
          <a:xfrm>
            <a:off x="8869680" y="3291840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69680" y="3291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onboarding built</a:t>
            </a:r>
            <a:endParaRPr lang="en-US" sz="830" dirty="0"/>
          </a:p>
        </p:txBody>
      </p:sp>
      <p:sp>
        <p:nvSpPr>
          <p:cNvPr id="87" name="Shape 85"/>
          <p:cNvSpPr/>
          <p:nvPr/>
        </p:nvSpPr>
        <p:spPr>
          <a:xfrm>
            <a:off x="10287000" y="3291840"/>
            <a:ext cx="1444752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287000" y="329184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830" dirty="0"/>
          </a:p>
        </p:txBody>
      </p:sp>
      <p:sp>
        <p:nvSpPr>
          <p:cNvPr id="89" name="Shape 87"/>
          <p:cNvSpPr/>
          <p:nvPr/>
        </p:nvSpPr>
        <p:spPr>
          <a:xfrm>
            <a:off x="457200" y="3584448"/>
            <a:ext cx="274320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3584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Integration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200400" y="3584448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00400" y="3584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30" dirty="0"/>
          </a:p>
        </p:txBody>
      </p:sp>
      <p:sp>
        <p:nvSpPr>
          <p:cNvPr id="93" name="Shape 91"/>
          <p:cNvSpPr/>
          <p:nvPr/>
        </p:nvSpPr>
        <p:spPr>
          <a:xfrm>
            <a:off x="4617720" y="3584448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17720" y="3584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30" dirty="0"/>
          </a:p>
        </p:txBody>
      </p:sp>
      <p:sp>
        <p:nvSpPr>
          <p:cNvPr id="95" name="Shape 93"/>
          <p:cNvSpPr/>
          <p:nvPr/>
        </p:nvSpPr>
        <p:spPr>
          <a:xfrm>
            <a:off x="6035040" y="3584448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035040" y="3584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version</a:t>
            </a:r>
            <a:endParaRPr lang="en-US" sz="830" dirty="0"/>
          </a:p>
        </p:txBody>
      </p:sp>
      <p:sp>
        <p:nvSpPr>
          <p:cNvPr id="97" name="Shape 95"/>
          <p:cNvSpPr/>
          <p:nvPr/>
        </p:nvSpPr>
        <p:spPr>
          <a:xfrm>
            <a:off x="7452360" y="3584448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52360" y="3584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830" dirty="0"/>
          </a:p>
        </p:txBody>
      </p:sp>
      <p:sp>
        <p:nvSpPr>
          <p:cNvPr id="99" name="Shape 97"/>
          <p:cNvSpPr/>
          <p:nvPr/>
        </p:nvSpPr>
        <p:spPr>
          <a:xfrm>
            <a:off x="8869680" y="3584448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869680" y="3584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scale</a:t>
            </a:r>
            <a:endParaRPr lang="en-US" sz="830" dirty="0"/>
          </a:p>
        </p:txBody>
      </p:sp>
      <p:sp>
        <p:nvSpPr>
          <p:cNvPr id="101" name="Shape 99"/>
          <p:cNvSpPr/>
          <p:nvPr/>
        </p:nvSpPr>
        <p:spPr>
          <a:xfrm>
            <a:off x="10287000" y="3584448"/>
            <a:ext cx="1444752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287000" y="358444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830" dirty="0"/>
          </a:p>
        </p:txBody>
      </p:sp>
      <p:sp>
        <p:nvSpPr>
          <p:cNvPr id="103" name="Shape 101"/>
          <p:cNvSpPr/>
          <p:nvPr/>
        </p:nvSpPr>
        <p:spPr>
          <a:xfrm>
            <a:off x="457200" y="3877056"/>
            <a:ext cx="274320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3200400" y="3877056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200400" y="3877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to run it</a:t>
            </a:r>
            <a:endParaRPr lang="en-US" sz="830" dirty="0"/>
          </a:p>
        </p:txBody>
      </p:sp>
      <p:sp>
        <p:nvSpPr>
          <p:cNvPr id="107" name="Shape 105"/>
          <p:cNvSpPr/>
          <p:nvPr/>
        </p:nvSpPr>
        <p:spPr>
          <a:xfrm>
            <a:off x="4617720" y="3877056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617720" y="3877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830" dirty="0"/>
          </a:p>
        </p:txBody>
      </p:sp>
      <p:sp>
        <p:nvSpPr>
          <p:cNvPr id="109" name="Shape 107"/>
          <p:cNvSpPr/>
          <p:nvPr/>
        </p:nvSpPr>
        <p:spPr>
          <a:xfrm>
            <a:off x="6035040" y="3877056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035040" y="3877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version</a:t>
            </a:r>
            <a:endParaRPr lang="en-US" sz="830" dirty="0"/>
          </a:p>
        </p:txBody>
      </p:sp>
      <p:sp>
        <p:nvSpPr>
          <p:cNvPr id="111" name="Shape 109"/>
          <p:cNvSpPr/>
          <p:nvPr/>
        </p:nvSpPr>
        <p:spPr>
          <a:xfrm>
            <a:off x="7452360" y="3877056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52360" y="3877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830" dirty="0"/>
          </a:p>
        </p:txBody>
      </p:sp>
      <p:sp>
        <p:nvSpPr>
          <p:cNvPr id="113" name="Shape 111"/>
          <p:cNvSpPr/>
          <p:nvPr/>
        </p:nvSpPr>
        <p:spPr>
          <a:xfrm>
            <a:off x="8869680" y="3877056"/>
            <a:ext cx="1417320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869680" y="3877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at scale</a:t>
            </a:r>
            <a:endParaRPr lang="en-US" sz="830" dirty="0"/>
          </a:p>
        </p:txBody>
      </p:sp>
      <p:sp>
        <p:nvSpPr>
          <p:cNvPr id="115" name="Shape 113"/>
          <p:cNvSpPr/>
          <p:nvPr/>
        </p:nvSpPr>
        <p:spPr>
          <a:xfrm>
            <a:off x="10287000" y="3877056"/>
            <a:ext cx="1444752" cy="292608"/>
          </a:xfrm>
          <a:prstGeom prst="rect">
            <a:avLst/>
          </a:prstGeom>
          <a:solidFill>
            <a:srgbClr val="E6F2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287000" y="387705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830" dirty="0"/>
          </a:p>
        </p:txBody>
      </p:sp>
      <p:sp>
        <p:nvSpPr>
          <p:cNvPr id="117" name="Shape 115"/>
          <p:cNvSpPr/>
          <p:nvPr/>
        </p:nvSpPr>
        <p:spPr>
          <a:xfrm>
            <a:off x="457200" y="4169664"/>
            <a:ext cx="274320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57200" y="41696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3200400" y="4169664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200400" y="41696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30" dirty="0"/>
          </a:p>
        </p:txBody>
      </p:sp>
      <p:sp>
        <p:nvSpPr>
          <p:cNvPr id="121" name="Shape 119"/>
          <p:cNvSpPr/>
          <p:nvPr/>
        </p:nvSpPr>
        <p:spPr>
          <a:xfrm>
            <a:off x="4617720" y="4169664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617720" y="41696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30" dirty="0"/>
          </a:p>
        </p:txBody>
      </p:sp>
      <p:sp>
        <p:nvSpPr>
          <p:cNvPr id="123" name="Shape 121"/>
          <p:cNvSpPr/>
          <p:nvPr/>
        </p:nvSpPr>
        <p:spPr>
          <a:xfrm>
            <a:off x="6035040" y="4169664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035040" y="41696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30" dirty="0"/>
          </a:p>
        </p:txBody>
      </p:sp>
      <p:sp>
        <p:nvSpPr>
          <p:cNvPr id="125" name="Shape 123"/>
          <p:cNvSpPr/>
          <p:nvPr/>
        </p:nvSpPr>
        <p:spPr>
          <a:xfrm>
            <a:off x="7452360" y="4169664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452360" y="41696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30" dirty="0"/>
          </a:p>
        </p:txBody>
      </p:sp>
      <p:sp>
        <p:nvSpPr>
          <p:cNvPr id="127" name="Shape 125"/>
          <p:cNvSpPr/>
          <p:nvPr/>
        </p:nvSpPr>
        <p:spPr>
          <a:xfrm>
            <a:off x="8869680" y="4169664"/>
            <a:ext cx="141732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869680" y="41696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30" dirty="0"/>
          </a:p>
        </p:txBody>
      </p:sp>
      <p:sp>
        <p:nvSpPr>
          <p:cNvPr id="129" name="Shape 127"/>
          <p:cNvSpPr/>
          <p:nvPr/>
        </p:nvSpPr>
        <p:spPr>
          <a:xfrm>
            <a:off x="10287000" y="4169664"/>
            <a:ext cx="1444752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287000" y="416966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built here</a:t>
            </a:r>
            <a:endParaRPr lang="en-US" sz="830" dirty="0"/>
          </a:p>
        </p:txBody>
      </p:sp>
      <p:sp>
        <p:nvSpPr>
          <p:cNvPr id="131" name="Text 1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OFF THE OLD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Gradual, Not a Switch-Off Date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E6F2E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993392" y="187452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84832" y="164592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E6F2EC"/>
          </a:solidFill>
          <a:ln/>
        </p:spPr>
      </p:sp>
      <p:sp>
        <p:nvSpPr>
          <p:cNvPr id="8" name="Text 6"/>
          <p:cNvSpPr/>
          <p:nvPr/>
        </p:nvSpPr>
        <p:spPr>
          <a:xfrm>
            <a:off x="2084832" y="16459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21024" y="187452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12464" y="164592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E6F2EC"/>
          </a:solidFill>
          <a:ln/>
        </p:spPr>
      </p:sp>
      <p:sp>
        <p:nvSpPr>
          <p:cNvPr id="11" name="Text 9"/>
          <p:cNvSpPr/>
          <p:nvPr/>
        </p:nvSpPr>
        <p:spPr>
          <a:xfrm>
            <a:off x="3712464" y="16459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48656" y="187452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40096" y="164592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E6F2EC"/>
          </a:solidFill>
          <a:ln/>
        </p:spPr>
      </p:sp>
      <p:sp>
        <p:nvSpPr>
          <p:cNvPr id="14" name="Text 12"/>
          <p:cNvSpPr/>
          <p:nvPr/>
        </p:nvSpPr>
        <p:spPr>
          <a:xfrm>
            <a:off x="5340096" y="16459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76288" y="187452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67728" y="164592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E6F2EC"/>
          </a:solidFill>
          <a:ln/>
        </p:spPr>
      </p:sp>
      <p:sp>
        <p:nvSpPr>
          <p:cNvPr id="17" name="Text 15"/>
          <p:cNvSpPr/>
          <p:nvPr/>
        </p:nvSpPr>
        <p:spPr>
          <a:xfrm>
            <a:off x="6967728" y="16459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03920" y="187452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5360" y="164592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E6F2EC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16459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131552" y="1874520"/>
            <a:ext cx="9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22992" y="164592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00864F"/>
          </a:solidFill>
          <a:ln/>
        </p:spPr>
      </p:sp>
      <p:sp>
        <p:nvSpPr>
          <p:cNvPr id="23" name="Text 21"/>
          <p:cNvSpPr/>
          <p:nvPr/>
        </p:nvSpPr>
        <p:spPr>
          <a:xfrm>
            <a:off x="10222992" y="16459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only becomes a candidate for retiring from the old system once its replacement has proven itself — behaviourally, from a governance point of view, and operationally. There's no fixed date for turning the old system off.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1274552" cy="2103120"/>
          </a:xfrm>
          <a:prstGeom prst="roundRect">
            <a:avLst>
              <a:gd name="adj" fmla="val 3478"/>
            </a:avLst>
          </a:prstGeom>
          <a:solidFill>
            <a:srgbClr val="F7F9F8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931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PLAYS OUT ACROSS THE ROADMAP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286000" y="4297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system untouched and fully in charge.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4663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28600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small, bounded scope moves to the new platform for real.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5029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4–5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286000" y="5029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scope migrates as each one proves itself.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7240" y="5394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286000" y="5394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is mostly about whatever hasn't migrated yet.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Effort, Roughly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reusable foundation once  →  prove a real strategy quickly  →  make it binding  →  learn before estimating the later scale-out.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carries the platform's foundational engineering and its technical risk. R1 and R2 are what that investment buys — fast onboarding, not repeat builds. Figures are engineering person-months, not calendar time; high-level planning estimates, not bottom-up ones.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— Build the Platform Spine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Most-detailed estimate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2258568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00864F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2585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PM  (range 32–48)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07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First Real Legacy Strategy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on the existing spine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2825496"/>
            <a:ext cx="2377440" cy="329184"/>
          </a:xfrm>
          <a:prstGeom prst="roundRect">
            <a:avLst>
              <a:gd name="adj" fmla="val 11111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825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working days (≈1–2 PM)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741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First Binding Production Decision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484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strategy, made binding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3392424"/>
            <a:ext cx="1188720" cy="329184"/>
          </a:xfrm>
          <a:prstGeom prst="roundRect">
            <a:avLst>
              <a:gd name="adj" fmla="val 11111"/>
            </a:avLst>
          </a:prstGeom>
          <a:solidFill>
            <a:srgbClr val="00864F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PM  (range 5–7)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941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— Self-Service Strategy Engineering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153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estimated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3959352"/>
            <a:ext cx="4846320" cy="329184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D9E4D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37560" y="39593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refined after Steps 1–3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07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— Industrialise Migration &amp; Scale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82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estimated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4526280"/>
            <a:ext cx="4846320" cy="329184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D9E4D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337560" y="45262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refined after initial migrations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5074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— Close the Decision-Learning Loop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349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estimated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5093208"/>
            <a:ext cx="4846320" cy="329184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D9E4D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337560" y="50932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refined once Decision Intelligence &amp; Outcomes is designed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733288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231F2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52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R0–R2 combined planning estimate: approximately 47–56 person-months. R3–R5 are deliberately not yet estimated — that's a considered decision, not missing work.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Engineering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diagram_231F20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95360" y="-822960"/>
            <a:ext cx="3474720" cy="3474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Engineering Platform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008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principles. A clear map. A realistic path.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87752" y="23500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8072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scope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3118104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15 PM into a small set of engineering work packages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2852928" y="2331720"/>
            <a:ext cx="365760" cy="36576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12" name="Text 9"/>
          <p:cNvSpPr/>
          <p:nvPr/>
        </p:nvSpPr>
        <p:spPr>
          <a:xfrm>
            <a:off x="285292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23500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852928" y="28072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specs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852928" y="3118104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Runtime, Workbench and Replay behaviour R0 actually needs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5065776" y="2331720"/>
            <a:ext cx="365760" cy="36576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17" name="Text 14"/>
          <p:cNvSpPr/>
          <p:nvPr/>
        </p:nvSpPr>
        <p:spPr>
          <a:xfrm>
            <a:off x="5065776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013448" y="23500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65776" y="28072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65776" y="3118104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components, contracts, execution/evidence paths, boundaries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7278624" y="2331720"/>
            <a:ext cx="365760" cy="36576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2" name="Text 19"/>
          <p:cNvSpPr/>
          <p:nvPr/>
        </p:nvSpPr>
        <p:spPr>
          <a:xfrm>
            <a:off x="7278624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226296" y="23500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78624" y="28072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278624" y="3118104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choices we deliberately deferred — only where R0 forces one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9491472" y="2331720"/>
            <a:ext cx="365760" cy="365760"/>
          </a:xfrm>
          <a:prstGeom prst="ellipse">
            <a:avLst/>
          </a:prstGeom>
          <a:solidFill>
            <a:srgbClr val="00864F"/>
          </a:solidFill>
          <a:ln/>
        </p:spPr>
      </p:sp>
      <p:sp>
        <p:nvSpPr>
          <p:cNvPr id="27" name="Text 24"/>
          <p:cNvSpPr/>
          <p:nvPr/>
        </p:nvSpPr>
        <p:spPr>
          <a:xfrm>
            <a:off x="9491472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491472" y="28072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learn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491472" y="3118104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9B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R0, prove the spine, then deepen design for R1/R2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640080" y="461772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00864F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" y="46177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ahead of delivery — but not the entire platform ahead of delivery.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2026-08-12T14:25:12Z</dcterms:created>
  <dcterms:modified xsi:type="dcterms:W3CDTF">2026-08-12T14:25:12Z</dcterms:modified>
</cp:coreProperties>
</file>