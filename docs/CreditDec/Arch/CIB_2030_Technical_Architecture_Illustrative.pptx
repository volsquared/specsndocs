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/ SYSTEMS ARCHITECTURE  ·  ILLUSTRATIVE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 2030 — How the Same Capabilities Would Actually Move Data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68096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example, not the full technical architecture — shows the pattern: tiers, and synchronous vs. asynchronous information flow, using a representative subset of components.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spc="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/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b="1" spc="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606040" y="1115568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42616" y="1115568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Lending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Originations (UI)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23560" y="1115568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0136" y="1115568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UI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49640" y="11155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23960" y="1115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initiates request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77640" y="1572768"/>
            <a:ext cx="0" cy="320040"/>
          </a:xfrm>
          <a:prstGeom prst="line">
            <a:avLst/>
          </a:prstGeom>
          <a:noFill/>
          <a:ln w="19050">
            <a:solidFill>
              <a:srgbClr val="00864F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65760" y="1892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spc="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b="1" spc="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06040" y="1892808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8F0F7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2616" y="1892808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23560" y="1892808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8F0F7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0136" y="1892808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Workflow Tool</a:t>
            </a:r>
            <a:endParaRPr lang="en-US" sz="7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(Orchestration Engine)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8549640" y="18928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23960" y="1892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Authenticates, routes, orchestrates the case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977640" y="2350008"/>
            <a:ext cx="0" cy="320040"/>
          </a:xfrm>
          <a:prstGeom prst="line">
            <a:avLst/>
          </a:prstGeom>
          <a:noFill/>
          <a:ln w="19050">
            <a:solidFill>
              <a:srgbClr val="00864F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65760" y="2670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spc="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68880" y="2596896"/>
            <a:ext cx="9509760" cy="1051560"/>
          </a:xfrm>
          <a:prstGeom prst="roundRect">
            <a:avLst>
              <a:gd name="adj" fmla="val 5217"/>
            </a:avLst>
          </a:prstGeom>
          <a:solidFill>
            <a:srgbClr val="FAFAFA"/>
          </a:solidFill>
          <a:ln w="12700">
            <a:solidFill>
              <a:srgbClr val="D9E4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06040" y="2798064"/>
            <a:ext cx="1204395" cy="777240"/>
          </a:xfrm>
          <a:prstGeom prst="roundRect">
            <a:avLst>
              <a:gd name="adj" fmla="val 5882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42616" y="2798064"/>
            <a:ext cx="1131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Memo</a:t>
            </a:r>
            <a:endParaRPr lang="en-US" sz="6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Svc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3883587" y="2798064"/>
            <a:ext cx="1204395" cy="777240"/>
          </a:xfrm>
          <a:prstGeom prst="roundRect">
            <a:avLst>
              <a:gd name="adj" fmla="val 5882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20163" y="2798064"/>
            <a:ext cx="1131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Spreading</a:t>
            </a:r>
            <a:endParaRPr lang="en-US" sz="6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Svc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5161135" y="2798064"/>
            <a:ext cx="1204395" cy="777240"/>
          </a:xfrm>
          <a:prstGeom prst="roundRect">
            <a:avLst>
              <a:gd name="adj" fmla="val 5882"/>
            </a:avLst>
          </a:prstGeom>
          <a:solidFill>
            <a:srgbClr val="E6F2EC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7711" y="2798064"/>
            <a:ext cx="1131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Policy</a:t>
            </a:r>
            <a:endParaRPr lang="en-US" sz="6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Svc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6438682" y="2798064"/>
            <a:ext cx="1204395" cy="777240"/>
          </a:xfrm>
          <a:prstGeom prst="roundRect">
            <a:avLst>
              <a:gd name="adj" fmla="val 5882"/>
            </a:avLst>
          </a:prstGeom>
          <a:solidFill>
            <a:srgbClr val="D2E9DE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5258" y="2798064"/>
            <a:ext cx="1131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</a:t>
            </a:r>
            <a:endParaRPr lang="en-US" sz="6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Svc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7716230" y="2798064"/>
            <a:ext cx="1204395" cy="777240"/>
          </a:xfrm>
          <a:prstGeom prst="roundRect">
            <a:avLst>
              <a:gd name="adj" fmla="val 5882"/>
            </a:avLst>
          </a:prstGeom>
          <a:solidFill>
            <a:srgbClr val="D2E9DE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52806" y="2798064"/>
            <a:ext cx="1131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LGD / PD</a:t>
            </a:r>
            <a:endParaRPr lang="en-US" sz="6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Services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8993777" y="2798064"/>
            <a:ext cx="1204395" cy="777240"/>
          </a:xfrm>
          <a:prstGeom prst="roundRect">
            <a:avLst>
              <a:gd name="adj" fmla="val 5882"/>
            </a:avLst>
          </a:prstGeom>
          <a:solidFill>
            <a:srgbClr val="D2E9DE"/>
          </a:solidFill>
          <a:ln w="12700">
            <a:solidFill>
              <a:srgbClr val="0086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30353" y="2798064"/>
            <a:ext cx="1131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&amp;</a:t>
            </a:r>
            <a:endParaRPr lang="en-US" sz="6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Svc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10271325" y="2798064"/>
            <a:ext cx="1204395" cy="77724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12700">
            <a:solidFill>
              <a:srgbClr val="8A8A8A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0307901" y="2798064"/>
            <a:ext cx="11312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6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2606040" y="3584448"/>
            <a:ext cx="9235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services ──────────────────  |  ────────────────── Risk services  |  external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606040" y="2414016"/>
            <a:ext cx="9235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Services execute the capability, calling external sources where needed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977640" y="3767328"/>
            <a:ext cx="0" cy="1188720"/>
          </a:xfrm>
          <a:prstGeom prst="line">
            <a:avLst/>
          </a:prstGeom>
          <a:noFill/>
          <a:ln w="19050">
            <a:solidFill>
              <a:srgbClr val="00864F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069080" y="4087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i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Sync read/write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b="1" i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(bypasses Event Hub)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464040" y="3767328"/>
            <a:ext cx="0" cy="411480"/>
          </a:xfrm>
          <a:prstGeom prst="line">
            <a:avLst/>
          </a:prstGeom>
          <a:noFill/>
          <a:ln w="19050">
            <a:solidFill>
              <a:srgbClr val="2A5C8A"/>
            </a:solidFill>
            <a:prstDash val="dash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9537192" y="38359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" b="1" i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Publish</a:t>
            </a:r>
            <a:endParaRPr lang="en-US" sz="7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20" b="1" i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spc="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b="1" spc="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32120" y="4178808"/>
            <a:ext cx="6309360" cy="384048"/>
          </a:xfrm>
          <a:prstGeom prst="roundRect">
            <a:avLst>
              <a:gd name="adj" fmla="val 11905"/>
            </a:avLst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68696" y="4178808"/>
            <a:ext cx="6236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HUB  (pub / sub — business events)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69480" y="4562856"/>
            <a:ext cx="0" cy="301752"/>
          </a:xfrm>
          <a:prstGeom prst="line">
            <a:avLst/>
          </a:prstGeom>
          <a:noFill/>
          <a:ln w="19050">
            <a:solidFill>
              <a:srgbClr val="2A5C8A"/>
            </a:solidFill>
            <a:prstDash val="dash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7342632" y="45765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" b="1" i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Async</a:t>
            </a:r>
            <a:endParaRPr lang="en-US" sz="7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20" b="1" i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ETL/stream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10561320" y="4562856"/>
            <a:ext cx="0" cy="301752"/>
          </a:xfrm>
          <a:prstGeom prst="line">
            <a:avLst/>
          </a:prstGeom>
          <a:noFill/>
          <a:ln w="19050">
            <a:solidFill>
              <a:srgbClr val="2A5C8A"/>
            </a:solidFill>
            <a:prstDash val="dash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0634472" y="45765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" b="1" i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Evidence</a:t>
            </a:r>
            <a:endParaRPr lang="en-US" sz="7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20" b="1" i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365760" y="4956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spc="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606040" y="4956048"/>
            <a:ext cx="2834640" cy="868680"/>
          </a:xfrm>
          <a:prstGeom prst="roundRect">
            <a:avLst>
              <a:gd name="adj" fmla="val 5263"/>
            </a:avLst>
          </a:prstGeom>
          <a:solidFill>
            <a:srgbClr val="F7F0DC"/>
          </a:solidFill>
          <a:ln w="12700">
            <a:solidFill>
              <a:srgbClr val="9C7A1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42616" y="4956048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Datastores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(SoR)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669280" y="4956048"/>
            <a:ext cx="3291840" cy="868680"/>
          </a:xfrm>
          <a:prstGeom prst="roundRect">
            <a:avLst>
              <a:gd name="adj" fmla="val 5263"/>
            </a:avLst>
          </a:prstGeom>
          <a:solidFill>
            <a:srgbClr val="F7F0DC"/>
          </a:solidFill>
          <a:ln w="12700">
            <a:solidFill>
              <a:srgbClr val="9C7A1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05856" y="4956048"/>
            <a:ext cx="3218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Datastores (FDPs)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189720" y="4956048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26296" y="4956048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Store /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65760" y="6144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188720" y="6236208"/>
            <a:ext cx="457200" cy="0"/>
          </a:xfrm>
          <a:prstGeom prst="line">
            <a:avLst/>
          </a:prstGeom>
          <a:noFill/>
          <a:ln w="19050">
            <a:solidFill>
              <a:srgbClr val="00864F"/>
            </a:solidFill>
            <a:prstDash val="solid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1737360" y="61447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(API request / response)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029200" y="6236208"/>
            <a:ext cx="457200" cy="0"/>
          </a:xfrm>
          <a:prstGeom prst="line">
            <a:avLst/>
          </a:prstGeom>
          <a:noFill/>
          <a:ln w="19050">
            <a:solidFill>
              <a:srgbClr val="2A5C8A"/>
            </a:solidFill>
            <a:prstDash val="dash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5577840" y="6144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(event-driven)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321040" y="61447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8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①–⑦  Illustrative sequence for one example transaction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65760" y="641908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— synchronous writes to the System of Record, asynchronous fan-out to analytics and audit via the Event Hub — follows directly from the CIB integration philosophy already agreed: stable contracts via REST APIs and business events, platform-agnostic to the orchestration engine.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2026-08-27T07:20:34Z</dcterms:created>
  <dcterms:modified xsi:type="dcterms:W3CDTF">2026-08-27T07:20:34Z</dcterms:modified>
</cp:coreProperties>
</file>